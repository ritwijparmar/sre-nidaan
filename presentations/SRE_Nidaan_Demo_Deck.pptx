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-914400"/>
            <a:ext cx="3474720" cy="292608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-731520"/>
            <a:ext cx="2926080" cy="2560320"/>
          </a:xfrm>
          <a:prstGeom prst="ellipse">
            <a:avLst/>
          </a:prstGeom>
          <a:solidFill>
            <a:srgbClr val="E3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20624"/>
            <a:ext cx="8138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500" b="1">
                <a:solidFill>
                  <a:srgbClr val="13233A"/>
                </a:solidFill>
                <a:latin typeface="Calibri"/>
              </a:rPr>
              <a:t>SRE निदान (SRE-Nidaan)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15568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E6380"/>
                </a:solidFill>
                <a:latin typeface="Calibri"/>
              </a:rPr>
              <a:t>Causal incident response copilot for reliability teams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484632"/>
            <a:ext cx="2011680" cy="438912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19488" y="54864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5FCB"/>
                </a:solidFill>
                <a:latin typeface="Calibri"/>
              </a:rPr>
              <a:t>DEMO DECK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28800"/>
            <a:ext cx="722376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1993392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3233A"/>
                </a:solidFill>
                <a:latin typeface="Calibri"/>
              </a:rPr>
              <a:t>What this project is trying to solve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487168"/>
            <a:ext cx="67665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When incidents get noisy, responders repeatedly ask: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What broke first?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What should we do now?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What should we definitely not touch?</a:t>
            </a:r>
          </a:p>
          <a:p>
            <a:pPr algn="l"/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SRE Nidaan is designed to make that reasoning explicit, structured, and safer.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828800"/>
            <a:ext cx="3383280" cy="4023360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99339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85FCB"/>
                </a:solidFill>
                <a:latin typeface="Calibri"/>
              </a:rPr>
              <a:t>Demo 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487168"/>
            <a:ext cx="29260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Live incident walkthrough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Architecture clarity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Safety gate flow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Model alignment stack</a:t>
            </a:r>
          </a:p>
          <a:p>
            <a:pPr algn="l"/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Early, imperfect but seems useful in practice.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-914400"/>
            <a:ext cx="3474720" cy="292608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-731520"/>
            <a:ext cx="2926080" cy="2560320"/>
          </a:xfrm>
          <a:prstGeom prst="ellipse">
            <a:avLst/>
          </a:prstGeom>
          <a:solidFill>
            <a:srgbClr val="E3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20624"/>
            <a:ext cx="8138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500" b="1">
                <a:solidFill>
                  <a:srgbClr val="13233A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15568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E6380"/>
                </a:solidFill>
                <a:latin typeface="Calibri"/>
              </a:rPr>
              <a:t>Incident pressure punishes vague answers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484632"/>
            <a:ext cx="2011680" cy="438912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19488" y="54864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5FCB"/>
                </a:solidFill>
                <a:latin typeface="Calibri"/>
              </a:rPr>
              <a:t>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28800"/>
            <a:ext cx="53035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993392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3233A"/>
                </a:solidFill>
                <a:latin typeface="Calibri"/>
              </a:rPr>
              <a:t>Typical incident room pain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87168"/>
            <a:ext cx="484632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Alert noise hides true causality.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Generic advice causes risky interventions.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Unstructured outputs slow coordination.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Trust drops when recommendations are not auditable.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828800"/>
            <a:ext cx="4937760" cy="4114800"/>
          </a:xfrm>
          <a:prstGeom prst="roundRect">
            <a:avLst/>
          </a:prstGeom>
          <a:solidFill>
            <a:srgbClr val="E3F7F4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993392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A7F78"/>
                </a:solidFill>
                <a:latin typeface="Calibri"/>
              </a:rPr>
              <a:t>SRE Nidaan design response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487168"/>
            <a:ext cx="448056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Causal graph + structured analysis output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MCP-inspired tool calls for telemetry access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Human approval gate before intervention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Feedback loop for continuous improvement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-914400"/>
            <a:ext cx="3474720" cy="292608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-731520"/>
            <a:ext cx="2926080" cy="2560320"/>
          </a:xfrm>
          <a:prstGeom prst="ellipse">
            <a:avLst/>
          </a:prstGeom>
          <a:solidFill>
            <a:srgbClr val="E3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20624"/>
            <a:ext cx="8138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500" b="1">
                <a:solidFill>
                  <a:srgbClr val="13233A"/>
                </a:solidFill>
                <a:latin typeface="Calibri"/>
              </a:rPr>
              <a:t>Architecture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15568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E6380"/>
                </a:solidFill>
                <a:latin typeface="Calibri"/>
              </a:rPr>
              <a:t>Face → Body → Brain with explicit safety boundaries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484632"/>
            <a:ext cx="2011680" cy="438912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19488" y="54864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5FCB"/>
                </a:solidFill>
                <a:latin typeface="Calibri"/>
              </a:rPr>
              <a:t>SYSTEM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33832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17627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3233A"/>
                </a:solidFill>
                <a:latin typeface="Calibri"/>
              </a:rPr>
              <a:t>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670048"/>
            <a:ext cx="2926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Next.js command surface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Incident input + graph review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Operator 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011680"/>
            <a:ext cx="3474720" cy="2103120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176272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85FCB"/>
                </a:solidFill>
                <a:latin typeface="Calibri"/>
              </a:rPr>
              <a:t>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70048"/>
            <a:ext cx="30175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FastAPI orchestration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MCP-inspired tool routing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Policy + safety gate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2011680"/>
            <a:ext cx="3108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2176272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3233A"/>
                </a:solidFill>
                <a:latin typeface="Calibri"/>
              </a:rPr>
              <a:t>Brain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670048"/>
            <a:ext cx="26517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vLLM inference service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LLM reasoning backend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Low-latency serving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206240" y="2743200"/>
            <a:ext cx="411480" cy="310896"/>
          </a:xfrm>
          <a:prstGeom prst="rightArrow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8001000" y="2743200"/>
            <a:ext cx="411480" cy="310896"/>
          </a:xfrm>
          <a:prstGeom prst="rightArrow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617720"/>
            <a:ext cx="10607040" cy="1371600"/>
          </a:xfrm>
          <a:prstGeom prst="roundRect">
            <a:avLst/>
          </a:prstGeom>
          <a:solidFill>
            <a:srgbClr val="E3F7F4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782312"/>
            <a:ext cx="10149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A7F78"/>
                </a:solidFill>
                <a:latin typeface="Calibri"/>
              </a:rPr>
              <a:t>Control plane principle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276088"/>
            <a:ext cx="10149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Reasoning can query structured telemetry tools, but intervention execution remains human-authorized.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-914400"/>
            <a:ext cx="3474720" cy="292608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-731520"/>
            <a:ext cx="2926080" cy="2560320"/>
          </a:xfrm>
          <a:prstGeom prst="ellipse">
            <a:avLst/>
          </a:prstGeom>
          <a:solidFill>
            <a:srgbClr val="E3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20624"/>
            <a:ext cx="8138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500" b="1">
                <a:solidFill>
                  <a:srgbClr val="13233A"/>
                </a:solidFill>
                <a:latin typeface="Calibri"/>
              </a:rPr>
              <a:t>Model Alignment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15568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E6380"/>
                </a:solidFill>
                <a:latin typeface="Calibri"/>
              </a:rPr>
              <a:t>From domain adaptation to policy refinement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484632"/>
            <a:ext cx="2011680" cy="438912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19488" y="54864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5FCB"/>
                </a:solidFill>
                <a:latin typeface="Calibri"/>
              </a:rPr>
              <a:t>ML STACK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286000"/>
            <a:ext cx="27432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50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3233A"/>
                </a:solidFill>
                <a:latin typeface="Calibri"/>
              </a:rPr>
              <a:t>QLoRA SFT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28600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Domain incident reasoning adaptation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474720" y="3154680"/>
            <a:ext cx="320040" cy="256032"/>
          </a:xfrm>
          <a:prstGeom prst="rightArrow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11880" y="2286000"/>
            <a:ext cx="2743200" cy="2240280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450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85FCB"/>
                </a:solidFill>
                <a:latin typeface="Calibri"/>
              </a:rPr>
              <a:t>Reward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944368"/>
            <a:ext cx="228600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7D scoring for quality + safety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400800" y="3154680"/>
            <a:ext cx="320040" cy="256032"/>
          </a:xfrm>
          <a:prstGeom prst="rightArrow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2286000"/>
            <a:ext cx="27432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450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3233A"/>
                </a:solidFill>
                <a:latin typeface="Calibri"/>
              </a:rPr>
              <a:t>RLHF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44368"/>
            <a:ext cx="228600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Policy refinement with controlled updates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26880" y="3154680"/>
            <a:ext cx="320040" cy="256032"/>
          </a:xfrm>
          <a:prstGeom prst="rightArrow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2286000"/>
            <a:ext cx="2743200" cy="2240280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2450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85FCB"/>
                </a:solidFill>
                <a:latin typeface="Calibri"/>
              </a:rPr>
              <a:t>vLLM Serve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944368"/>
            <a:ext cx="228600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Runtime inference for production flow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846320"/>
            <a:ext cx="10698480" cy="1143000"/>
          </a:xfrm>
          <a:prstGeom prst="roundRect">
            <a:avLst/>
          </a:prstGeom>
          <a:solidFill>
            <a:srgbClr val="E3F7F4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010912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A7F78"/>
                </a:solidFill>
                <a:latin typeface="Calibri"/>
              </a:rPr>
              <a:t>Why this sequence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50468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It improves consistency and safety posture versus a vanilla prompt-only setup.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-914400"/>
            <a:ext cx="3474720" cy="292608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-731520"/>
            <a:ext cx="2926080" cy="2560320"/>
          </a:xfrm>
          <a:prstGeom prst="ellipse">
            <a:avLst/>
          </a:prstGeom>
          <a:solidFill>
            <a:srgbClr val="E3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20624"/>
            <a:ext cx="8138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500" b="1">
                <a:solidFill>
                  <a:srgbClr val="13233A"/>
                </a:solidFill>
                <a:latin typeface="Calibri"/>
              </a:rPr>
              <a:t>Project Demonstration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15568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E6380"/>
                </a:solidFill>
                <a:latin typeface="Calibri"/>
              </a:rPr>
              <a:t>Auth retry storm with database saturation risk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484632"/>
            <a:ext cx="2011680" cy="438912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19488" y="54864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5FCB"/>
                </a:solidFill>
                <a:latin typeface="Calibri"/>
              </a:rPr>
              <a:t>DEMO STEP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28800"/>
            <a:ext cx="548640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99339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3233A"/>
                </a:solidFill>
                <a:latin typeface="Calibri"/>
              </a:rPr>
              <a:t>Incident input (what we provide)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87168"/>
            <a:ext cx="5029200" cy="3337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Severity: SEV-1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Signal: auth latency 210ms → 1.8s, error rate 18%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Impact: login + checkout timeout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Change context: auth middleware rollout 18 min prior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Affected services: auth-service, api-gateway, postgres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1828800"/>
            <a:ext cx="4754880" cy="4160520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1993392"/>
            <a:ext cx="4297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85FCB"/>
                </a:solidFill>
                <a:latin typeface="Calibri"/>
              </a:rPr>
              <a:t>Expected analysis surface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487168"/>
            <a:ext cx="4297680" cy="3337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Root cause hypothesis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Intervention simulation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Causal DAG rendering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Evidence + confidence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• Human approval requirement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-914400"/>
            <a:ext cx="3474720" cy="292608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-731520"/>
            <a:ext cx="2926080" cy="2560320"/>
          </a:xfrm>
          <a:prstGeom prst="ellipse">
            <a:avLst/>
          </a:prstGeom>
          <a:solidFill>
            <a:srgbClr val="E3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20624"/>
            <a:ext cx="8138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500" b="1">
                <a:solidFill>
                  <a:srgbClr val="13233A"/>
                </a:solidFill>
                <a:latin typeface="Calibri"/>
              </a:rPr>
              <a:t>Demonstration Flow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15568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E6380"/>
                </a:solidFill>
                <a:latin typeface="Calibri"/>
              </a:rPr>
              <a:t>From incident brief to generated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484632"/>
            <a:ext cx="2011680" cy="438912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19488" y="54864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5FCB"/>
                </a:solidFill>
                <a:latin typeface="Calibri"/>
              </a:rPr>
              <a:t>DEMO STEP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783080"/>
            <a:ext cx="1097280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4767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3233A"/>
                </a:solidFill>
                <a:latin typeface="Calibri"/>
              </a:rPr>
              <a:t>0:00-0:20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41448"/>
            <a:ext cx="10515600" cy="2560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Open runtime, describe incident context, generate final brief.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71800"/>
            <a:ext cx="10972800" cy="1078992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1363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85FCB"/>
                </a:solidFill>
                <a:latin typeface="Calibri"/>
              </a:rPr>
              <a:t>0:20-0:40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630168"/>
            <a:ext cx="10515600" cy="2560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Run Analyze Incident and show stage/status transitions.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160520"/>
            <a:ext cx="10972800" cy="1737360"/>
          </a:xfrm>
          <a:prstGeom prst="roundRect">
            <a:avLst/>
          </a:prstGeom>
          <a:solidFill>
            <a:srgbClr val="E3F7F4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511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A7F78"/>
                </a:solidFill>
                <a:latin typeface="Calibri"/>
              </a:rPr>
              <a:t>What to narrate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818888"/>
            <a:ext cx="10515600" cy="9143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Vanilla LLM outputs can sound correct but still be risky.</a:t>
            </a:r>
          </a:p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This flow forces structure, tool-grounding, and explicit safety context.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-914400"/>
            <a:ext cx="3474720" cy="292608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-731520"/>
            <a:ext cx="2926080" cy="2560320"/>
          </a:xfrm>
          <a:prstGeom prst="ellipse">
            <a:avLst/>
          </a:prstGeom>
          <a:solidFill>
            <a:srgbClr val="E3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20624"/>
            <a:ext cx="8138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500" b="1">
                <a:solidFill>
                  <a:srgbClr val="13233A"/>
                </a:solidFill>
                <a:latin typeface="Calibri"/>
              </a:rPr>
              <a:t>Demonstration Flow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15568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E6380"/>
                </a:solidFill>
                <a:latin typeface="Calibri"/>
              </a:rPr>
              <a:t>From causal graph review to safe operator 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484632"/>
            <a:ext cx="2011680" cy="438912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19488" y="54864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5FCB"/>
                </a:solidFill>
                <a:latin typeface="Calibri"/>
              </a:rPr>
              <a:t>DEMO STEP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783080"/>
            <a:ext cx="53492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47672"/>
            <a:ext cx="4892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3233A"/>
                </a:solidFill>
                <a:latin typeface="Calibri"/>
              </a:rPr>
              <a:t>0:40-1:00 Graph +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41448"/>
            <a:ext cx="48920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Inspect node relationships.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Review linked evidence snippets.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Explain intervention logic.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1783080"/>
            <a:ext cx="5349240" cy="1965960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947672"/>
            <a:ext cx="4892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85FCB"/>
                </a:solidFill>
                <a:latin typeface="Calibri"/>
              </a:rPr>
              <a:t>1:00-1:20 Safety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2441448"/>
            <a:ext cx="48920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Show mandatory approval reason.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Emphasize human authorization step.</a:t>
            </a:r>
          </a:p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Confirm no blind auto-execution.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77639"/>
            <a:ext cx="10972800" cy="1920240"/>
          </a:xfrm>
          <a:prstGeom prst="roundRect">
            <a:avLst/>
          </a:prstGeom>
          <a:solidFill>
            <a:srgbClr val="E3F7F4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142231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A7F78"/>
                </a:solidFill>
                <a:latin typeface="Calibri"/>
              </a:rPr>
              <a:t>1:20-1:30 Feedback loop 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636007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Submit analyst feedback to improve future behavior.</a:t>
            </a:r>
          </a:p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Close with product and repository links.</a:t>
            </a:r>
          </a:p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Suggested close line: Early, imperfect but seems useful in practice.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-914400"/>
            <a:ext cx="3474720" cy="292608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-731520"/>
            <a:ext cx="2926080" cy="2560320"/>
          </a:xfrm>
          <a:prstGeom prst="ellipse">
            <a:avLst/>
          </a:prstGeom>
          <a:solidFill>
            <a:srgbClr val="E3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20624"/>
            <a:ext cx="8138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500" b="1">
                <a:solidFill>
                  <a:srgbClr val="13233A"/>
                </a:solidFill>
                <a:latin typeface="Calibri"/>
              </a:rPr>
              <a:t>What audience should notice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15568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E6380"/>
                </a:solidFill>
                <a:latin typeface="Calibri"/>
              </a:rPr>
              <a:t>Demonstration checkpoints that signal product maturity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484632"/>
            <a:ext cx="2011680" cy="438912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19488" y="54864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5FCB"/>
                </a:solidFill>
                <a:latin typeface="Calibri"/>
              </a:rPr>
              <a:t>HIGHLIGHTS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920240"/>
            <a:ext cx="4937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84832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3233A"/>
                </a:solidFill>
                <a:latin typeface="Calibri"/>
              </a:rPr>
              <a:t>Grounding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78608"/>
            <a:ext cx="44805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Analysis traces back to structured telemetry context.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920240"/>
            <a:ext cx="4937760" cy="1645920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85FCB"/>
                </a:solidFill>
                <a:latin typeface="Calibri"/>
              </a:rPr>
              <a:t>Causality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578608"/>
            <a:ext cx="44805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Graph makes root-cause path legible under pressure.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840480"/>
            <a:ext cx="4937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005072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3233A"/>
                </a:solidFill>
                <a:latin typeface="Calibri"/>
              </a:rPr>
              <a:t>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498848"/>
            <a:ext cx="44805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Intervention path is human-gated, not auto-triggered.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40480"/>
            <a:ext cx="4937760" cy="1645920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005072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85FCB"/>
                </a:solidFill>
                <a:latin typeface="Calibri"/>
              </a:rPr>
              <a:t>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498848"/>
            <a:ext cx="44805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E6380"/>
                </a:solidFill>
                <a:latin typeface="Calibri"/>
              </a:rPr>
              <a:t>Analyst feedback is captured for iterative refinement.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85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-914400"/>
            <a:ext cx="3474720" cy="292608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-731520"/>
            <a:ext cx="2926080" cy="2560320"/>
          </a:xfrm>
          <a:prstGeom prst="ellipse">
            <a:avLst/>
          </a:prstGeom>
          <a:solidFill>
            <a:srgbClr val="E3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20624"/>
            <a:ext cx="8138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500" b="1">
                <a:solidFill>
                  <a:srgbClr val="13233A"/>
                </a:solidFill>
                <a:latin typeface="Calibri"/>
              </a:rPr>
              <a:t>Access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15568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E6380"/>
                </a:solidFill>
                <a:latin typeface="Calibri"/>
              </a:rPr>
              <a:t>Live demo endpoint and codebase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484632"/>
            <a:ext cx="2011680" cy="438912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19488" y="54864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5FCB"/>
                </a:solidFill>
                <a:latin typeface="Calibri"/>
              </a:rPr>
              <a:t>LINKS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57400"/>
            <a:ext cx="10698480" cy="1737360"/>
          </a:xfrm>
          <a:prstGeom prst="roundRect">
            <a:avLst/>
          </a:prstGeom>
          <a:solidFill>
            <a:srgbClr val="E7F0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21992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85FCB"/>
                </a:solidFill>
                <a:latin typeface="Calibri"/>
              </a:rPr>
              <a:t>Product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15768"/>
            <a:ext cx="10241280" cy="9143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https://sre-nidaan-122722888597.us-east4.run.app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977639"/>
            <a:ext cx="106984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C4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142231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3233A"/>
                </a:solidFill>
                <a:latin typeface="Calibri"/>
              </a:rP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36007"/>
            <a:ext cx="10241280" cy="9143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3233A"/>
                </a:solidFill>
                <a:latin typeface="Calibri"/>
              </a:rPr>
              <a:t>https://github.com/RitwijParmar/SRE-Nidaan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